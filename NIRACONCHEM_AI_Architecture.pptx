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26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ECF2FA"/>
                </a:solidFill>
                <a:latin typeface="Calibri"/>
              </a:rPr>
              <a:t>NIRACONCHEM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65760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2D3EE"/>
                </a:solidFill>
                <a:latin typeface="Calibri"/>
              </a:rPr>
              <a:t>Construction-Chemical Recommendation Platform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FB2CC"/>
                </a:solidFill>
                <a:latin typeface="Calibri"/>
              </a:rPr>
              <a:t>How the AI works — a clear architecture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75488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2FA"/>
                </a:solidFill>
                <a:latin typeface="Calibri"/>
              </a:rPr>
              <a:t>A product-profile-first assistant for UAE / GCC site teams.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2CC"/>
                </a:solidFill>
                <a:latin typeface="Calibri"/>
              </a:rPr>
              <a:t>Founded by Sravani Uppu — 10 years of construction-chemicals specification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Next.js · FastAPI · LangGraph · Groq · Local JSON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WHY THIS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The Problem &amp;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87070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83480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UAE / GCC sites face extreme heat, UV, chloride, coastal &amp; hydrostatic exposure.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Choosing the wrong chemical system causes leaks, failures &amp; rework.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Generic AI chatbots answer from general knowledge — not grounded in real product data.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Site teams need a correct system fast, with datasheet-backed reasoning.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Calibri"/>
              </a:rPr>
              <a:t>THE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983480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Product-profile-first: recommendations pulled from a structured product dataset.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LangGraph routes greetings, brand, general, knowledge &amp; technical queries differently.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Direct answers first — no long clarification forms before helping.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Datasheet-backed RAG, file analysis, and a generated PDF technical report.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9FB2CC"/>
                </a:solidFill>
                <a:latin typeface="Calibri"/>
              </a:rPr>
              <a:t>UAE/GCC-aware: heat, UV, chloride, coastal, traffic &amp; wet-area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End-to-End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1975104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97510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User / Site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61488"/>
            <a:ext cx="19751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Types a requirement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or uploads a file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28316" y="2679192"/>
            <a:ext cx="219456" cy="219456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4" y="2103120"/>
            <a:ext cx="1975104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2103120"/>
            <a:ext cx="1975104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2304288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Next.js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761488"/>
            <a:ext cx="19751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Chat UI · File upload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Market · PDF · PWA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23460" y="2679192"/>
            <a:ext cx="219456" cy="219456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3208" y="2103120"/>
            <a:ext cx="1975104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2103120"/>
            <a:ext cx="1975104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2304288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FastAPI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761488"/>
            <a:ext cx="19751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/chat · /recommend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/analyze-file · /rag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18604" y="2679192"/>
            <a:ext cx="219456" cy="219456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88352" y="2103120"/>
            <a:ext cx="1975104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2103120"/>
            <a:ext cx="1975104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2304288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LangGraph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761488"/>
            <a:ext cx="19751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Intent routing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&amp; orchestration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13748" y="2679192"/>
            <a:ext cx="219456" cy="219456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83496" y="2103120"/>
            <a:ext cx="1975104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83496" y="2103120"/>
            <a:ext cx="1975104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3496" y="2304288"/>
            <a:ext cx="197510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Knowledge +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2761488"/>
            <a:ext cx="19751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Product profiles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RAG chunks · Groq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77639"/>
            <a:ext cx="11155680" cy="36576"/>
          </a:xfrm>
          <a:prstGeom prst="rect">
            <a:avLst/>
          </a:prstGeom>
          <a:solidFill>
            <a:srgbClr val="33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14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RESPONSE PATH  →  Direct chat answer  ·  Market result cards  ·  PDF technical 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63440"/>
            <a:ext cx="11155680" cy="1371600"/>
          </a:xfrm>
          <a:prstGeom prst="rect">
            <a:avLst/>
          </a:prstGeom>
          <a:solidFill>
            <a:srgbClr val="1B2A45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DATA LAYER  (local JSON — fast, simple, swappable to Postgres + vector 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product_profiles.json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 — 24 structured product/system records  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rag_chunks.json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 — datasheet chunks  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rag_index.json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 — indexing metadata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Frontend — Next.js · React ·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7784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1206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Chat interface for construction-chemical questions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File upload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PDF / DOCX / XLSX / TXT project analysis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Market result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product cards ranked for the query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PDF download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when report inputs are complete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Dark / light theme toggle (liquid-glass styling)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Installable PWA (manifest + service worker)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Mobile-responsive chat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SMART CLIENT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isConstructionRelatedQuery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gates project-mode vs general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tokenizeMarketText + scoreMarketProduct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rank QCON products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normalizeChatReply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guard that keeps genuine RAG answers verbatim, only rewrites the legacy canned template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apiFetch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45s timeout, talks to /chat, /analyze-file, /recommend/report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Key files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page.tsx, globals.css, data/qcon-market-products.json, public/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Backend — FastAPI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app/main.py — single service, clear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CORS restricted to configured frontend origins + *.vercel.app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ensure_rag_indexes() auto-builds indexes on first request if missing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Rule-based recommendation engine + optional Groq LLM enhancement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PDF generation via ReportLab; session memory in chat_sessions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91440" cy="1234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chat_agent_langgraph.py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8444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LangGraph chat brain + 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01752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01752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18211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rag_store.py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8444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Profile load, RAG retrieve,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301752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3017520"/>
            <a:ext cx="91440" cy="1234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18211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rag_ingest.py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8444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Datasheet → chunks + profiles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2628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2628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9087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file_parser.py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9320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PDF/DOCX/XLSX/TXT extraction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52628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F8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526280"/>
            <a:ext cx="91440" cy="1234440"/>
          </a:xfrm>
          <a:prstGeom prst="rect">
            <a:avLst/>
          </a:prstGeom>
          <a:solidFill>
            <a:srgbClr val="F8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69087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chat_sessions.py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9320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In-memory session 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4526280"/>
            <a:ext cx="3566160" cy="1234440"/>
          </a:xfrm>
          <a:prstGeom prst="rect">
            <a:avLst/>
          </a:prstGeom>
          <a:solidFill>
            <a:srgbClr val="121E33"/>
          </a:solidFill>
          <a:ln w="12700">
            <a:solidFill>
              <a:srgbClr val="9F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4526280"/>
            <a:ext cx="91440" cy="1234440"/>
          </a:xfrm>
          <a:prstGeom prst="rect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69087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agent_prompt.py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09320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System prompt for the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THE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LangGraph Chat Brain — the agent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331720" cy="914400"/>
          </a:xfrm>
          <a:prstGeom prst="rect">
            <a:avLst/>
          </a:prstGeom>
          <a:solidFill>
            <a:srgbClr val="121E33"/>
          </a:solidFill>
          <a:ln w="12700">
            <a:solidFill>
              <a:srgbClr val="9F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331720" cy="91440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7276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node_normalise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clean + join history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85516" y="1819656"/>
            <a:ext cx="201168" cy="201168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2331720" cy="91440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node_route_intent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92024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classify intent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20156" y="1819656"/>
            <a:ext cx="201168" cy="201168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7237476" y="2423160"/>
            <a:ext cx="201168" cy="27432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63240"/>
            <a:ext cx="214884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8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72968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CF2FA"/>
                </a:solidFill>
                <a:latin typeface="Calibri"/>
              </a:rPr>
              <a:t>brand_identity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Founder/owner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3063240"/>
            <a:ext cx="214884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3172968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CF2FA"/>
                </a:solidFill>
                <a:latin typeface="Calibri"/>
              </a:rPr>
              <a:t>greeting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35204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Hi / hello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7216" y="3063240"/>
            <a:ext cx="214884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9F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7216" y="3172968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CF2FA"/>
                </a:solidFill>
                <a:latin typeface="Calibri"/>
              </a:rPr>
              <a:t>general_question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Casual chat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52944" y="3063240"/>
            <a:ext cx="214884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3172968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CF2FA"/>
                </a:solidFill>
                <a:latin typeface="Calibri"/>
              </a:rPr>
              <a:t>knowledge_question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35204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“what is…?”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48672" y="3063240"/>
            <a:ext cx="214884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3172968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CF2FA"/>
                </a:solidFill>
                <a:latin typeface="Calibri"/>
              </a:rPr>
              <a:t>technical_consultation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35204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Product / system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237476" y="3977640"/>
            <a:ext cx="201168" cy="27432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57900" y="4526280"/>
            <a:ext cx="256032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7900" y="4636008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node_recommend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7900" y="498348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2CC"/>
                </a:solidFill>
                <a:latin typeface="Calibri"/>
              </a:rPr>
              <a:t>build answer → END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237476" y="5440680"/>
            <a:ext cx="201168" cy="274320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89788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Technical &amp; knowledge paths first </a:t>
            </a:r>
            <a:r>
              <a:rPr sz="1100" b="1" i="0">
                <a:solidFill>
                  <a:srgbClr val="22D3EE"/>
                </a:solidFill>
                <a:latin typeface="Calibri"/>
              </a:rPr>
              <a:t>retrieve product profiles + datasheet chunks</a:t>
            </a:r>
            <a:r>
              <a:rPr sz="1100" b="0" i="0">
                <a:solidFill>
                  <a:srgbClr val="9FB2CC"/>
                </a:solidFill>
                <a:latin typeface="Calibri"/>
              </a:rPr>
              <a:t> then answer via Groq (or grounded rule fallback).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How the Intent Is Decided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node_route_intent — ordered checks (first match wins):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1. Brand terms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founder / founded / owner / “niraconchem” / “sravani” → brand_identity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2. Greeting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hi/hello + ≤5 words + no history → greeting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5468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3. Product-profile match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query matches a known product/brand name → technical_consultation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4. Knowledge shape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ends with “?” or starts with “what is / explain / define…” → general_question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5196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5196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5. Slot detail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contains a requirement / area / substrate / exposure / location term → technical_consultation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0060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0060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6. Construction score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construction_score(query + ½ context) ≥ 2 → technical_consultation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16459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49240"/>
            <a:ext cx="103327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7. Default  — 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otherwise → general_question (LLM answers naturally)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BRAINPOWER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Recommendation Engine — Retrieval &amp;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7784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retrieve_product_profiles()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Tokenize query, drop stopwords, expand synonyms (roof→roofing,membrane,uv)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Score each profile = token overlap ÷ √profile_tokens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Boosts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+0.45 area match, +0.35 category, +0.55 requested area, +0.25 known manufacturer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Penalties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−0.8 EIFS when not wanted, −0.3 roof when not asked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Dedupe by (product, brand); return top-N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profile_score() — per-product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Exact product name in query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+220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Full name-token coverage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+170 / +120 / +60 by ratio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Brand + name both match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+35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Phrase boosts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“tile adhesive”, “waterproofing”, “concrete repair” +35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“why / how / where” + 2 name tokens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+70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1" i="0">
                <a:solidFill>
                  <a:srgbClr val="ECF2FA"/>
                </a:solidFill>
                <a:latin typeface="Calibri"/>
              </a:rPr>
              <a:t>Has price / url / description / brand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 small + bonuses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150" b="0" i="0">
                <a:solidFill>
                  <a:srgbClr val="9FB2CC"/>
                </a:solidFill>
                <a:latin typeface="Calibri"/>
              </a:rPr>
              <a:t>Result: ranked, grounded product/system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Data &amp; RAG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114300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product_profiles.json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918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2CC"/>
                </a:solidFill>
                <a:latin typeface="Calibri"/>
              </a:rPr>
              <a:t>24 structured product/system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63040"/>
            <a:ext cx="3611880" cy="114300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60020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rag_chunks.json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011680"/>
            <a:ext cx="32918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2CC"/>
                </a:solidFill>
                <a:latin typeface="Calibri"/>
              </a:rPr>
              <a:t>datasheet chunks (900-word, 160 overlap)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998" y="1463040"/>
            <a:ext cx="3611880" cy="114300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8" y="160020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F2FA"/>
                </a:solidFill>
                <a:latin typeface="Calibri"/>
              </a:rPr>
              <a:t>rag_index.json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2011680"/>
            <a:ext cx="32918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2CC"/>
                </a:solidFill>
                <a:latin typeface="Calibri"/>
              </a:rPr>
              <a:t>document profile metadata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11155680" cy="274320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44368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rag_ingest.py — datasheet →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6984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Sources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13 manufacturer .docx datasheets in data/datasheets/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Chunking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900 words, 160-word overlap, each stored with tokens + keywords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Profile build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detect manufacturer/country, system type, layers (primer/membrane/reinforcement/top-coat), application areas, performance (bond/tensile/elongation/SRI…)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Product patterns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regex for Saveto / Vetoprime / Vetoproof / Vetotop families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System rules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map text → PVC roofing, Acrylic-PU hybrid, epoxy coating, repair mortar, sealant…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Retrieval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rag_store scores chunks by overlap + area/roof/repair boosts, diverse by source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DOMAIN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UAE / GCC Climate &amp; Exposure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7784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CLIMATE_RULES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Coastal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humidity + chloride → UV-stable, salt-tolerant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Desert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heat/dry wind → hot-weather windows, moisture loss control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Rooftop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UV + thermal movement → flexible UV-resistant membranes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Underground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hydrostatic pressure → strong substrate prep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Industrial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chemical/abrasion → confirm resistance before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SLOT / CATEGORY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UAE emirates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mapped; coastal vs desert exposure hints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CATEGORY_RULES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waterproof/repair/tile/floor/corrosion/sealant → candidate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5 intake slots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problem, area, substrate, exposure, location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infer_missing_information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flags what’s still needed for a report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Caveat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output is technical guidance — verify vs manufacturer datasheet &amp;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File Upload &amp; Project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06040" cy="118872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PDF / DOCX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XLSX / TXT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4116" y="2194560"/>
            <a:ext cx="201168" cy="201168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2606040" cy="1188720"/>
          </a:xfrm>
          <a:prstGeom prst="rect">
            <a:avLst/>
          </a:prstGeom>
          <a:solidFill>
            <a:srgbClr val="121E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file_parser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extract 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(12k char cap)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31636" y="2194560"/>
            <a:ext cx="201168" cy="201168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645920"/>
            <a:ext cx="2606040" cy="118872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830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summarize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locations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areas · requirements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49156" y="2194560"/>
            <a:ext cx="201168" cy="201168"/>
          </a:xfrm>
          <a:prstGeom prst="rightArrow">
            <a:avLst/>
          </a:prstGeom>
          <a:solidFill>
            <a:srgbClr val="9F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55480" y="1645920"/>
            <a:ext cx="2606040" cy="118872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783080"/>
            <a:ext cx="2606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F2FA"/>
                </a:solidFill>
                <a:latin typeface="Calibri"/>
              </a:rPr>
              <a:t>/analyze-file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194560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returns JSON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2CC"/>
                </a:solidFill>
                <a:latin typeface="Calibri"/>
              </a:rPr>
              <a:t>+ preview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91840"/>
            <a:ext cx="11155680" cy="228600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01568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What it extracts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LOCATION_KEYWORDS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Dubai, Abu Dhabi, Sharjah, RAK, Fujairah, Al Ain…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AREA_KEYWORDS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basement, roof, pool, bathroom, foundation, facade, parking, slab…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REQUIREMENT_KEYWORDS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waterproofing, repair, tile adhesive, grout, sealant, coating, crack…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Feeds forward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extracted context is sent into /chat &amp; /recommend/report to ground the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PDF Technical Report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7784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/recommend/report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Built with ReportLab (tables, styles, images, page breaks)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report_ready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true only when slots are complete: problem, area, substrate, exposure, location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Groq enhancement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strict JSON: best_system, manufacturer, products, why_recommended, precautions, questions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Priority order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product profile → RAG datasheet context → LLM fills gaps only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Frontend shows the PDF download action when 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Report contains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Project summary &amp; detected location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Climate / exposure context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Recommended category &amp; application guidance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Selected product profile + alternatives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Why recommended + supporting datasheet references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Precautions &amp; any open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Market Result — QCON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55680" cy="182880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Frontend-side product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Source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qcon-market-products.json (scraped QCON product data) + local images in public/assets/qcon-products/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Trigger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when intent = technical_consultation and no clarification needed, UI switches to the Market tab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ECF2FA"/>
                </a:solidFill>
                <a:latin typeface="Calibri"/>
              </a:rPr>
              <a:t>Ranking</a:t>
            </a:r>
            <a:r>
              <a:rPr sz="1200" b="0" i="0">
                <a:solidFill>
                  <a:srgbClr val="9FB2CC"/>
                </a:solidFill>
                <a:latin typeface="Calibri"/>
              </a:rPr>
              <a:t> scoreMarketProduct() tokenizes query + reply + captured requirements, weights name/category/brand/keyword/description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11155680" cy="2103120"/>
          </a:xfrm>
          <a:prstGeom prst="rect">
            <a:avLst/>
          </a:prstGeom>
          <a:solidFill>
            <a:srgbClr val="1B2A45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Each product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name · company · brand · category · price · url · imageUrl · localImage · description · keywords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9FB2CC"/>
                </a:solidFill>
                <a:latin typeface="Calibri"/>
              </a:rPr>
              <a:t>→ Shows practical, purchaseable options next to the AI recommendation so users can act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API Endpoints (FastAPI, :8000)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91440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GET  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backend health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91440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POST /chat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LangGraph chat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POST /recommend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385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rule-based recommendation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6032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6032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7004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POST /recommend/report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3580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PDF report download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6032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56032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67004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POST /analyze-file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03580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upload + analyze project files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56032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8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560320"/>
            <a:ext cx="91440" cy="868680"/>
          </a:xfrm>
          <a:prstGeom prst="rect">
            <a:avLst/>
          </a:prstGeom>
          <a:solidFill>
            <a:srgbClr val="F8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67004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POST /rag/ingest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03580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rebuild RAG/product indexes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657600"/>
            <a:ext cx="3611880" cy="868680"/>
          </a:xfrm>
          <a:prstGeom prst="rect">
            <a:avLst/>
          </a:prstGeom>
          <a:solidFill>
            <a:srgbClr val="121E33"/>
          </a:solidFill>
          <a:ln w="12700">
            <a:solidFill>
              <a:srgbClr val="F87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657600"/>
            <a:ext cx="91440" cy="868680"/>
          </a:xfrm>
          <a:prstGeom prst="rect">
            <a:avLst/>
          </a:prstGeom>
          <a:solidFill>
            <a:srgbClr val="F8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67328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CF2FA"/>
                </a:solidFill>
                <a:latin typeface="Calibri"/>
              </a:rPr>
              <a:t>GET  /rag/status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13308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C"/>
                </a:solidFill>
                <a:latin typeface="Calibri"/>
              </a:rPr>
              <a:t>inspect RAG index readiness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Tech Stack &amp;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7784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Frontend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Next.js, React, TypeScript, CSS, lucide-react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Backend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Python, FastAPI, Pydantic, LangGraph, Groq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Documents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pypdf, python-docx, openpyxl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Reports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ReportLab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Data / RAG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local JSON indexes, datasheet chunks, product profiles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Deploy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Vercel (frontend) + Render (backend)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394960" cy="4206240"/>
          </a:xfrm>
          <a:prstGeom prst="rect">
            <a:avLst/>
          </a:prstGeom>
          <a:solidFill>
            <a:srgbClr val="121E33"/>
          </a:solidFill>
          <a:ln w="12700">
            <a:solidFill>
              <a:srgbClr val="23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ENVIRONMENT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Backend .env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GROQ_API_KEY, GROQ_MODEL, FRONTEND_ORIGINS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Frontend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NEXT_PUBLIC_API_BASE_URL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Render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PYTHON_VERSION 3.11, GROQ_API_KEY (sync:false)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Security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keys never committed; CORS scoped; upload size limited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▸ </a:t>
            </a:r>
            <a:r>
              <a:rPr sz="1250" b="1" i="0">
                <a:solidFill>
                  <a:srgbClr val="ECF2FA"/>
                </a:solidFill>
                <a:latin typeface="Calibri"/>
              </a:rPr>
              <a:t>Note</a:t>
            </a:r>
            <a:r>
              <a:rPr sz="1250" b="0" i="0">
                <a:solidFill>
                  <a:srgbClr val="9FB2CC"/>
                </a:solidFill>
                <a:latin typeface="Calibri"/>
              </a:rPr>
              <a:t> works without Groq — grounded rule-based fallback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CF2FA"/>
                </a:solidFill>
                <a:latin typeface="Calibri"/>
              </a:rPr>
              <a:t>Scaling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97480" cy="4023360"/>
          </a:xfrm>
          <a:prstGeom prst="rect">
            <a:avLst/>
          </a:prstGeom>
          <a:solidFill>
            <a:srgbClr val="121E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2697480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1220"/>
                </a:solidFill>
                <a:latin typeface="Calibri"/>
              </a:rPr>
              <a:t>MOVE TO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Sessions: Redis / Postgres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0040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Profiles: Postgres + admin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5196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RAG: Qdrant / Pinecone / Chroma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463040"/>
            <a:ext cx="2697480" cy="4023360"/>
          </a:xfrm>
          <a:prstGeom prst="rect">
            <a:avLst/>
          </a:prstGeom>
          <a:solidFill>
            <a:srgbClr val="121E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46304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536192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1220"/>
                </a:solidFill>
                <a:latin typeface="Calibri"/>
              </a:rPr>
              <a:t>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14884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14884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Auth + role-based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2004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20040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Observability: logs, traces, evals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25196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2519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Background workers (ingest, PDF)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63040"/>
            <a:ext cx="2697480" cy="4023360"/>
          </a:xfrm>
          <a:prstGeom prst="rect">
            <a:avLst/>
          </a:prstGeom>
          <a:solidFill>
            <a:srgbClr val="121E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463040"/>
            <a:ext cx="2697480" cy="5029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536192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1220"/>
                </a:solidFill>
                <a:latin typeface="Calibri"/>
              </a:rPr>
              <a:t>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148840"/>
            <a:ext cx="109728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14884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Camera / site-image upload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200400"/>
            <a:ext cx="109728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Vision: cracks, dampness, defects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251960"/>
            <a:ext cx="109728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Manufacturer comparison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463040"/>
            <a:ext cx="2697480" cy="4023360"/>
          </a:xfrm>
          <a:prstGeom prst="rect">
            <a:avLst/>
          </a:prstGeom>
          <a:solidFill>
            <a:srgbClr val="121E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1463040"/>
            <a:ext cx="2697480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536192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1220"/>
                </a:solidFill>
                <a:latin typeface="Calibri"/>
              </a:rPr>
              <a:t>REACH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148840"/>
            <a:ext cx="109728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14884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Multi-language (UAE/GCC)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3200400"/>
            <a:ext cx="109728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20040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User accounts &amp; workspaces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4251960"/>
            <a:ext cx="109728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42519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CF2FA"/>
                </a:solidFill>
                <a:latin typeface="Calibri"/>
              </a:rPr>
              <a:t>Live climate / weather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2CC"/>
                </a:solidFill>
                <a:latin typeface="Calibri"/>
              </a:rPr>
              <a:t>NIRACONCHEM AI  —  Architecture Overview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FB2C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